
<file path=[Content_Types].xml><?xml version="1.0" encoding="utf-8"?>
<Types xmlns="http://schemas.openxmlformats.org/package/2006/content-types">
  <Default ContentType="application/x-fontdata" Extension="fntdata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6feae9b0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6feae9b0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6feae9b0c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6feae9b0c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6feae9b2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6feae9b2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feae9b0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feae9b0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feae9b2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6feae9b2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feae9b21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feae9b2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feae9b21f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feae9b21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feae9b21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6feae9b21f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6feae9b21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6feae9b21f_0_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feae9b21f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6feae9b21f_0_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feae9b21f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6feae9b21f_0_4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feae9b21f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6feae9b21f_0_5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6feae9b21f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6feae9b21f_0_6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feae9b21f_0_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feae9b21f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feae9b21f_0_7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6feae9b21f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6feae9b21f_0_8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6feae9b21f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feae9b21f_0_9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6feae9b21f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feae9b21f_0_1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feae9b21f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feae9b21f_0_1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feae9b21f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6feae9b21f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6feae9b21f_0_1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e Conteúdo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13.jpg"/><Relationship Id="rId6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hyperlink" Target="https://accounts.autodesk.com/" TargetMode="External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hyperlink" Target="https://accounts.autodesk.com/" TargetMode="External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ccounts.autodesk.com/" TargetMode="External"/><Relationship Id="rId4" Type="http://schemas.openxmlformats.org/officeDocument/2006/relationships/image" Target="../media/image25.png"/><Relationship Id="rId5" Type="http://schemas.openxmlformats.org/officeDocument/2006/relationships/hyperlink" Target="https://accounts.autodesk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OFICINA DE ROBÓTICA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35681"/>
            <a:ext cx="4127125" cy="25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475" y="0"/>
            <a:ext cx="2922525" cy="1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O QUE É ROBÓTICA?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275" y="1152475"/>
            <a:ext cx="5671452" cy="380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QUANDO SURGIU?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038" y="1017725"/>
            <a:ext cx="7091925" cy="38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AS TRÊS LEIS DA ROBÓTICA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97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Um robô não deve ferir um ser humano, ou por omissão, permitir que um ser humano venha a ser ferido;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Um robô deve obedecer as ordens dadas por seres humanos, exceto quando essas ordens forem conflitantes com a Primeira Lei;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Um robô deve sempre proteger sua própria existência, somente enquanto tal proteção não contrariar a Primeira ou a Segunda Leis.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700" y="1017725"/>
            <a:ext cx="34164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5497700" y="4434125"/>
            <a:ext cx="3416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Times New Roman"/>
                <a:ea typeface="Times New Roman"/>
                <a:cs typeface="Times New Roman"/>
                <a:sym typeface="Times New Roman"/>
              </a:rPr>
              <a:t>Isaac Asimov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APLICAÇÕES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1865224"/>
            <a:ext cx="4926325" cy="327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333" y="2571751"/>
            <a:ext cx="4217668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6325" y="0"/>
            <a:ext cx="4217675" cy="280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5750" y="0"/>
            <a:ext cx="3277934" cy="18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ARDUINO E COMPONENTES ELETRÔNICOS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488" y="3068952"/>
            <a:ext cx="3203275" cy="161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951" y="1152478"/>
            <a:ext cx="3036349" cy="161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777" y="1897675"/>
            <a:ext cx="2800448" cy="19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152475"/>
            <a:ext cx="2906825" cy="17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8701" y="2764801"/>
            <a:ext cx="2378700" cy="23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do arduino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628650" y="1369219"/>
            <a:ext cx="4407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5461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628644" y="1293013"/>
            <a:ext cx="73425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5461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pt-BR" sz="2100">
                <a:latin typeface="Calibri"/>
                <a:ea typeface="Calibri"/>
                <a:cs typeface="Calibri"/>
                <a:sym typeface="Calibri"/>
              </a:rPr>
              <a:t>O arduino é uma placa microcontroladora capaz de facilitar as conexões entre o mundo físico. Além de possuí hardware e software open source.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519" y="2434153"/>
            <a:ext cx="4579182" cy="2252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Pinagem do arduino Uno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588" y="1724775"/>
            <a:ext cx="4000819" cy="27935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21"/>
          <p:cNvCxnSpPr/>
          <p:nvPr/>
        </p:nvCxnSpPr>
        <p:spPr>
          <a:xfrm flipH="1" rot="10800000">
            <a:off x="6390881" y="1586156"/>
            <a:ext cx="708300" cy="277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21"/>
          <p:cNvSpPr txBox="1"/>
          <p:nvPr/>
        </p:nvSpPr>
        <p:spPr>
          <a:xfrm>
            <a:off x="7119113" y="1369219"/>
            <a:ext cx="133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Serial In (RX)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21"/>
          <p:cNvCxnSpPr/>
          <p:nvPr/>
        </p:nvCxnSpPr>
        <p:spPr>
          <a:xfrm flipH="1" rot="10800000">
            <a:off x="6267675" y="1247363"/>
            <a:ext cx="30900" cy="600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21"/>
          <p:cNvCxnSpPr>
            <a:endCxn id="121" idx="1"/>
          </p:cNvCxnSpPr>
          <p:nvPr/>
        </p:nvCxnSpPr>
        <p:spPr>
          <a:xfrm flipH="1" rot="10800000">
            <a:off x="6283013" y="1201125"/>
            <a:ext cx="836100" cy="30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21"/>
          <p:cNvSpPr txBox="1"/>
          <p:nvPr/>
        </p:nvSpPr>
        <p:spPr>
          <a:xfrm>
            <a:off x="7119113" y="954675"/>
            <a:ext cx="15663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Serial Out (TX)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21"/>
          <p:cNvCxnSpPr/>
          <p:nvPr/>
        </p:nvCxnSpPr>
        <p:spPr>
          <a:xfrm rot="10800000">
            <a:off x="6113681" y="1555463"/>
            <a:ext cx="0" cy="29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1"/>
          <p:cNvCxnSpPr/>
          <p:nvPr/>
        </p:nvCxnSpPr>
        <p:spPr>
          <a:xfrm flipH="1" rot="10800000">
            <a:off x="4528697" y="1558575"/>
            <a:ext cx="1500" cy="28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1"/>
          <p:cNvCxnSpPr/>
          <p:nvPr/>
        </p:nvCxnSpPr>
        <p:spPr>
          <a:xfrm>
            <a:off x="4485413" y="1546125"/>
            <a:ext cx="160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1"/>
          <p:cNvSpPr txBox="1"/>
          <p:nvPr/>
        </p:nvSpPr>
        <p:spPr>
          <a:xfrm>
            <a:off x="4535175" y="1133081"/>
            <a:ext cx="34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Pinos Digitais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095344" y="1676513"/>
            <a:ext cx="477600" cy="360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2585438" y="2123119"/>
            <a:ext cx="991800" cy="78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2787694" y="3803850"/>
            <a:ext cx="836100" cy="600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1"/>
          <p:cNvCxnSpPr/>
          <p:nvPr/>
        </p:nvCxnSpPr>
        <p:spPr>
          <a:xfrm flipH="1" rot="10800000">
            <a:off x="5244113" y="1400588"/>
            <a:ext cx="15300" cy="16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1"/>
          <p:cNvCxnSpPr>
            <a:stCxn id="126" idx="1"/>
          </p:cNvCxnSpPr>
          <p:nvPr/>
        </p:nvCxnSpPr>
        <p:spPr>
          <a:xfrm flipH="1">
            <a:off x="2279044" y="1856813"/>
            <a:ext cx="816300" cy="15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1"/>
          <p:cNvCxnSpPr/>
          <p:nvPr/>
        </p:nvCxnSpPr>
        <p:spPr>
          <a:xfrm flipH="1">
            <a:off x="2294438" y="2505844"/>
            <a:ext cx="291000" cy="1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1"/>
          <p:cNvCxnSpPr/>
          <p:nvPr/>
        </p:nvCxnSpPr>
        <p:spPr>
          <a:xfrm flipH="1">
            <a:off x="2325206" y="4097475"/>
            <a:ext cx="450300" cy="23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1"/>
          <p:cNvSpPr txBox="1"/>
          <p:nvPr/>
        </p:nvSpPr>
        <p:spPr>
          <a:xfrm>
            <a:off x="1616288" y="1595081"/>
            <a:ext cx="8163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1036125" y="2280881"/>
            <a:ext cx="13392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Entrada USB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981469" y="3773700"/>
            <a:ext cx="14325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Fonte externa 7 V  à  12 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283069" y="2796244"/>
            <a:ext cx="360300" cy="492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21"/>
          <p:cNvCxnSpPr/>
          <p:nvPr/>
        </p:nvCxnSpPr>
        <p:spPr>
          <a:xfrm flipH="1">
            <a:off x="6637838" y="3020194"/>
            <a:ext cx="291000" cy="1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1"/>
          <p:cNvSpPr txBox="1"/>
          <p:nvPr/>
        </p:nvSpPr>
        <p:spPr>
          <a:xfrm>
            <a:off x="6866550" y="2660044"/>
            <a:ext cx="1247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ICSP para Atmega328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21"/>
          <p:cNvCxnSpPr/>
          <p:nvPr/>
        </p:nvCxnSpPr>
        <p:spPr>
          <a:xfrm rot="10800000">
            <a:off x="5675438" y="4589063"/>
            <a:ext cx="750000" cy="2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1"/>
          <p:cNvCxnSpPr/>
          <p:nvPr/>
        </p:nvCxnSpPr>
        <p:spPr>
          <a:xfrm>
            <a:off x="5679750" y="4384463"/>
            <a:ext cx="6600" cy="22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1"/>
          <p:cNvCxnSpPr/>
          <p:nvPr/>
        </p:nvCxnSpPr>
        <p:spPr>
          <a:xfrm flipH="1">
            <a:off x="6429206" y="4377956"/>
            <a:ext cx="2400" cy="22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1"/>
          <p:cNvCxnSpPr/>
          <p:nvPr/>
        </p:nvCxnSpPr>
        <p:spPr>
          <a:xfrm>
            <a:off x="6079800" y="4613063"/>
            <a:ext cx="6900" cy="134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1"/>
          <p:cNvSpPr txBox="1"/>
          <p:nvPr/>
        </p:nvSpPr>
        <p:spPr>
          <a:xfrm>
            <a:off x="5163825" y="4619231"/>
            <a:ext cx="1726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Pinos Analógicos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21"/>
          <p:cNvCxnSpPr/>
          <p:nvPr/>
        </p:nvCxnSpPr>
        <p:spPr>
          <a:xfrm flipH="1">
            <a:off x="5421038" y="4475850"/>
            <a:ext cx="2400" cy="22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1"/>
          <p:cNvCxnSpPr/>
          <p:nvPr/>
        </p:nvCxnSpPr>
        <p:spPr>
          <a:xfrm flipH="1">
            <a:off x="4506638" y="4475850"/>
            <a:ext cx="2400" cy="22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1"/>
          <p:cNvCxnSpPr/>
          <p:nvPr/>
        </p:nvCxnSpPr>
        <p:spPr>
          <a:xfrm flipH="1">
            <a:off x="4508738" y="4673006"/>
            <a:ext cx="914700" cy="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1"/>
          <p:cNvCxnSpPr/>
          <p:nvPr/>
        </p:nvCxnSpPr>
        <p:spPr>
          <a:xfrm flipH="1">
            <a:off x="4897200" y="4696913"/>
            <a:ext cx="15300" cy="23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1"/>
          <p:cNvCxnSpPr/>
          <p:nvPr/>
        </p:nvCxnSpPr>
        <p:spPr>
          <a:xfrm flipH="1">
            <a:off x="3973125" y="4913869"/>
            <a:ext cx="962100" cy="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1"/>
          <p:cNvSpPr txBox="1"/>
          <p:nvPr/>
        </p:nvSpPr>
        <p:spPr>
          <a:xfrm>
            <a:off x="285750" y="4661981"/>
            <a:ext cx="38568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IOREF, Reset, 3.3 V, 5 V, GND, GND, Vin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Software do arduino - IDE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Plataforma gratuita disponível no site arduino.cc;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O sketch possui três blocos, sendo estes: definição de variáveis, void loop e void setup;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Definição de variáveis é a etapa em que armazenamos informações na memória do microprocessador do arduino;</a:t>
            </a:r>
            <a:endParaRPr/>
          </a:p>
        </p:txBody>
      </p:sp>
      <p:pic>
        <p:nvPicPr>
          <p:cNvPr descr="Recorte de Tela"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2177" y="3410971"/>
            <a:ext cx="1193173" cy="122175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Funções principais do IDE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Void setup ():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→"/>
            </a:pPr>
            <a:r>
              <a:rPr lang="pt-BR"/>
              <a:t> É realizado declarações, inicializações e funções internas as quais serão executadas um única vez;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Void loop ():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Calibri"/>
              <a:buChar char="→"/>
            </a:pPr>
            <a:r>
              <a:rPr lang="pt-BR"/>
              <a:t> Declaração das funções que se repetirão.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Atuadores e sensores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Os atuadores são componentes que realizam a conversão da energia elétrica, hidráulica em energia mecânica;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Os sensores são transdutores, ou seja, conversores de grandezas físicas em sinais elétricos correspondentes.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Exemplos de atuadores - led</a:t>
            </a:r>
            <a:endParaRPr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Diodo emissor de luz;</a:t>
            </a:r>
            <a:endParaRPr/>
          </a:p>
          <a:p>
            <a:pPr indent="-2540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>
                <a:highlight>
                  <a:srgbClr val="FFFFFF"/>
                </a:highlight>
              </a:rPr>
              <a:t>Um diodo é um componente eletrônico que permite a passagem da corrente elétrica somente em um sentido;</a:t>
            </a:r>
            <a:endParaRPr>
              <a:highlight>
                <a:srgbClr val="FFFFFF"/>
              </a:highlight>
            </a:endParaRPr>
          </a:p>
          <a:p>
            <a:pPr indent="-2540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>
                <a:highlight>
                  <a:srgbClr val="FFFFFF"/>
                </a:highlight>
              </a:rPr>
              <a:t>Necessita de uma alimentação de 3.3 V.</a:t>
            </a:r>
            <a:endParaRPr b="1">
              <a:highlight>
                <a:srgbClr val="FFFFFF"/>
              </a:highlight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691" y="2243362"/>
            <a:ext cx="1581806" cy="234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Servo motor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Um servo é uma pequena caixa, contendo um motor elétrico CC, um conjunto de engrenagens entre o motor e um eixo de saída, um mecanismo sensor de posição e um circuito de controle;</a:t>
            </a:r>
            <a:endParaRPr/>
          </a:p>
          <a:p>
            <a:pPr indent="0" lvl="0" marL="3429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54000" lvl="0" marL="3429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posição de um servo é controlada fornecendo um conjunto de pulsos a ele;</a:t>
            </a:r>
            <a:endParaRPr/>
          </a:p>
          <a:p>
            <a:pPr indent="0" lvl="0" marL="3429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54000" lvl="0" marL="3429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posição de -45 graus pulsos de 0,6 milissegundo;</a:t>
            </a:r>
            <a:endParaRPr/>
          </a:p>
          <a:p>
            <a:pPr indent="-2540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posição de +45 graus com pulsos de 2,4 milissegundos.</a:t>
            </a:r>
            <a:endParaRPr/>
          </a:p>
          <a:p>
            <a:pPr indent="0" lvl="0" marL="34290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1137" y="2855850"/>
            <a:ext cx="2048532" cy="2048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676" y="658416"/>
            <a:ext cx="6143700" cy="42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742950" y="772716"/>
            <a:ext cx="3687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Bora programar?</a:t>
            </a:r>
            <a:endParaRPr sz="3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Tinkercad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00" y="273844"/>
            <a:ext cx="1955250" cy="80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6560100" y="1077975"/>
            <a:ext cx="1955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uFill>
                  <a:noFill/>
                </a:uFill>
                <a:hlinkClick r:id="rId4"/>
              </a:rPr>
              <a:t>https://accounts.autodesk.com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931" y="1382419"/>
            <a:ext cx="7886700" cy="321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Tinkercad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100" y="273844"/>
            <a:ext cx="1955250" cy="8349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6560100" y="1108781"/>
            <a:ext cx="1955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uFill>
                  <a:noFill/>
                </a:uFill>
                <a:hlinkClick r:id="rId4"/>
              </a:rPr>
              <a:t>https://accounts.autodesk.com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50" y="1369219"/>
            <a:ext cx="7886699" cy="3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Tinkercad (passo a passo)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Acesse o link </a:t>
            </a:r>
            <a:r>
              <a:rPr lang="pt-BR" sz="1800"/>
              <a:t>h</a:t>
            </a:r>
            <a:r>
              <a:rPr lang="pt-BR" sz="1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ttps://accounts.autodesk.com</a:t>
            </a:r>
            <a:endParaRPr sz="1800"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Crie uma conta para você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Click em Circuits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Click em Criar novo circuito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Arraste os materiais e conecte-os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Escreva </a:t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100" y="273844"/>
            <a:ext cx="1955250" cy="8349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/>
        </p:nvSpPr>
        <p:spPr>
          <a:xfrm>
            <a:off x="6560100" y="1108781"/>
            <a:ext cx="1955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uFill>
                  <a:noFill/>
                </a:uFill>
                <a:hlinkClick r:id="rId5"/>
              </a:rPr>
              <a:t>https://accounts.autodesk.com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Acendendo leds</a:t>
            </a:r>
            <a:endParaRPr/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250" y="1128175"/>
            <a:ext cx="7117499" cy="362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Conexões do protoboard</a:t>
            </a:r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00" y="750817"/>
            <a:ext cx="7995099" cy="451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Semáforo</a:t>
            </a:r>
            <a:endParaRPr/>
          </a:p>
        </p:txBody>
      </p:sp>
      <p:pic>
        <p:nvPicPr>
          <p:cNvPr id="232" name="Google Shape;2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671" y="1369219"/>
            <a:ext cx="6456667" cy="3450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JUNIOR, S. L. S.; SILVA, R. A. </a:t>
            </a:r>
            <a:r>
              <a:rPr b="1" lang="pt-BR"/>
              <a:t>Automação e instrumentação industrial com arduino: Teoria e projetos. </a:t>
            </a:r>
            <a:r>
              <a:rPr lang="pt-BR"/>
              <a:t>São Paulo: Érica, 2015.</a:t>
            </a:r>
            <a:endParaRPr/>
          </a:p>
          <a:p>
            <a:pPr indent="-171450" lvl="0" marL="177800" marR="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100"/>
              <a:buChar char="●"/>
            </a:pPr>
            <a:r>
              <a:rPr lang="pt-BR"/>
              <a:t>Disponível:&lt;http://automacaoerobotica.blogspot.com/2012/07/sensores-e-atuadores-aplicados-robotica.html&gt;. Acesso em 20 de maio de 2019.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